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89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Streets &amp; Safety: Infrastructure Insights from Syracuse Open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2544" y="2299580"/>
            <a:ext cx="5318911" cy="1566250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 marL="0" indent="0" algn="ctr">
              <a:buNone/>
            </a:pPr>
            <a:r>
              <a:rPr dirty="0"/>
              <a:t>Syracuse Civic Data Project</a:t>
            </a:r>
          </a:p>
          <a:p>
            <a:pPr marL="0" indent="0" algn="ctr">
              <a:buNone/>
            </a:pPr>
            <a:r>
              <a:rPr dirty="0"/>
              <a:t>Ward-Level Pavement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C37F8-4E75-70E3-3B26-401AE19326DE}"/>
              </a:ext>
            </a:extLst>
          </p:cNvPr>
          <p:cNvSpPr txBox="1"/>
          <p:nvPr/>
        </p:nvSpPr>
        <p:spPr>
          <a:xfrm>
            <a:off x="5563355" y="551781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Sagarika Shinde, Research Analyst</a:t>
            </a:r>
          </a:p>
          <a:p>
            <a:r>
              <a:rPr lang="en-US" dirty="0"/>
              <a:t>Syracuse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 How do pavement conditions vary across Syracuse?</a:t>
            </a:r>
          </a:p>
          <a:p>
            <a:endParaRPr dirty="0"/>
          </a:p>
          <a:p>
            <a:r>
              <a:rPr dirty="0"/>
              <a:t>Why it matters:</a:t>
            </a:r>
          </a:p>
          <a:p>
            <a:pPr marL="400050" lvl="1" indent="0">
              <a:buNone/>
            </a:pPr>
            <a:r>
              <a:rPr dirty="0"/>
              <a:t>• Street quality affects safety and mobility</a:t>
            </a:r>
          </a:p>
          <a:p>
            <a:pPr marL="400050" lvl="1" indent="0">
              <a:buNone/>
            </a:pPr>
            <a:r>
              <a:rPr dirty="0"/>
              <a:t>• Residents experience infrastructure directly</a:t>
            </a:r>
          </a:p>
          <a:p>
            <a:pPr marL="400050" lvl="1" indent="0">
              <a:buNone/>
            </a:pPr>
            <a:r>
              <a:rPr dirty="0"/>
              <a:t>• Open data should be understandable and useful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Syracuse Should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Infrastructure maintenance impacts daily life</a:t>
            </a:r>
          </a:p>
          <a:p>
            <a:r>
              <a:rPr dirty="0"/>
              <a:t>Data-driven insights support planning</a:t>
            </a:r>
          </a:p>
          <a:p>
            <a:r>
              <a:rPr lang="en-US" dirty="0"/>
              <a:t>T</a:t>
            </a:r>
            <a:r>
              <a:rPr dirty="0"/>
              <a:t>ransparent analysis helps residents and city officials understand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Used:</a:t>
            </a:r>
          </a:p>
          <a:p>
            <a:r>
              <a:rPr dirty="0"/>
              <a:t>Syracuse Pavement Ratings (2022</a:t>
            </a:r>
            <a:r>
              <a:rPr lang="en-US" dirty="0"/>
              <a:t> -</a:t>
            </a:r>
            <a:r>
              <a:rPr dirty="0"/>
              <a:t> 2024)</a:t>
            </a:r>
          </a:p>
          <a:p>
            <a:r>
              <a:rPr dirty="0"/>
              <a:t>Syracuse Fire Hydrant Inventory</a:t>
            </a:r>
          </a:p>
          <a:p>
            <a:endParaRPr dirty="0"/>
          </a:p>
          <a:p>
            <a:r>
              <a:rPr dirty="0"/>
              <a:t>Goal: Transform raw municipal data into clear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Standardized multi-year pavement datasets</a:t>
            </a:r>
          </a:p>
          <a:p>
            <a:pPr marL="0" indent="0">
              <a:buNone/>
            </a:pPr>
            <a:r>
              <a:rPr dirty="0"/>
              <a:t>2. Combined datasets into a unified analysis table</a:t>
            </a:r>
          </a:p>
          <a:p>
            <a:pPr marL="0" indent="0">
              <a:buNone/>
            </a:pPr>
            <a:r>
              <a:rPr dirty="0"/>
              <a:t>3. Aggregated metrics at the ward level</a:t>
            </a:r>
          </a:p>
          <a:p>
            <a:pPr marL="0" indent="0">
              <a:buNone/>
            </a:pPr>
            <a:r>
              <a:rPr dirty="0"/>
              <a:t>4. Generated visualizations to explore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dirty="0"/>
              <a:t>Raw Data → Cleaning → Aggregation → Metrics → Visualizations</a:t>
            </a:r>
          </a:p>
          <a:p>
            <a:endParaRPr dirty="0"/>
          </a:p>
          <a:p>
            <a:r>
              <a:rPr dirty="0"/>
              <a:t>Pipeline ensures reproducible processing from raw datasets to dashboard-ready 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Checks performed:</a:t>
            </a:r>
          </a:p>
          <a:p>
            <a:pPr lvl="1"/>
            <a:r>
              <a:rPr dirty="0"/>
              <a:t>Missing value inspection</a:t>
            </a:r>
          </a:p>
          <a:p>
            <a:pPr lvl="1"/>
            <a:r>
              <a:rPr dirty="0"/>
              <a:t>Rating range validation</a:t>
            </a:r>
          </a:p>
          <a:p>
            <a:pPr lvl="1"/>
            <a:r>
              <a:rPr dirty="0"/>
              <a:t>Schema consistency across years</a:t>
            </a:r>
          </a:p>
          <a:p>
            <a:pPr lvl="1"/>
            <a:r>
              <a:rPr dirty="0"/>
              <a:t>Aggregation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Integration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LLMs used for:</a:t>
            </a:r>
          </a:p>
          <a:p>
            <a:pPr lvl="1"/>
            <a:r>
              <a:rPr dirty="0"/>
              <a:t>Summarization of analytical findings</a:t>
            </a:r>
          </a:p>
          <a:p>
            <a:pPr lvl="1"/>
            <a:r>
              <a:rPr dirty="0"/>
              <a:t>Documentation assistance</a:t>
            </a:r>
          </a:p>
          <a:p>
            <a:endParaRPr dirty="0"/>
          </a:p>
          <a:p>
            <a:r>
              <a:rPr dirty="0"/>
              <a:t>Validation:</a:t>
            </a:r>
          </a:p>
          <a:p>
            <a:pPr lvl="1"/>
            <a:r>
              <a:rPr dirty="0"/>
              <a:t>All numeric outputs verified against ground truth calculations</a:t>
            </a:r>
          </a:p>
          <a:p>
            <a:pPr lvl="1"/>
            <a:r>
              <a:rPr dirty="0"/>
              <a:t>No automated conclusions without human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Pavement conditions vary across wards</a:t>
            </a:r>
          </a:p>
          <a:p>
            <a:r>
              <a:rPr dirty="0"/>
              <a:t>Some wards contain higher shares of poorly rated segments</a:t>
            </a:r>
          </a:p>
          <a:p>
            <a:r>
              <a:rPr dirty="0"/>
              <a:t>Infrastructure conditions are not evenly distributed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0934" y="269619"/>
            <a:ext cx="4702132" cy="906340"/>
          </a:xfrm>
        </p:spPr>
        <p:txBody>
          <a:bodyPr anchor="b">
            <a:normAutofit/>
          </a:bodyPr>
          <a:lstStyle/>
          <a:p>
            <a:r>
              <a:rPr lang="en-US" dirty="0"/>
              <a:t>Visual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856" y="1747319"/>
            <a:ext cx="3963060" cy="4233989"/>
          </a:xfrm>
        </p:spPr>
        <p:txBody>
          <a:bodyPr anchor="t">
            <a:normAutofit/>
          </a:bodyPr>
          <a:lstStyle/>
          <a:p>
            <a:r>
              <a:rPr lang="en-US" dirty="0"/>
              <a:t>Key visualizations include:</a:t>
            </a:r>
          </a:p>
          <a:p>
            <a:pPr marL="457200" lvl="1" indent="0">
              <a:buNone/>
            </a:pPr>
            <a:r>
              <a:rPr lang="en-US" sz="3200" dirty="0"/>
              <a:t>1. Average pavement rating by ward</a:t>
            </a:r>
          </a:p>
          <a:p>
            <a:pPr lvl="1"/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31C42-9412-D08F-165C-200EA3BAC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916" y="1534822"/>
            <a:ext cx="4792009" cy="379766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D1C77-F191-7545-43BF-6928DC343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6748" y="116431"/>
            <a:ext cx="4617267" cy="1368337"/>
          </a:xfrm>
        </p:spPr>
        <p:txBody>
          <a:bodyPr anchor="t">
            <a:normAutofit/>
          </a:bodyPr>
          <a:lstStyle/>
          <a:p>
            <a:pPr marL="457200" lvl="1" indent="0" algn="ctr">
              <a:buNone/>
            </a:pPr>
            <a:r>
              <a:rPr lang="en-US" sz="3200" dirty="0"/>
              <a:t>2. Percent of poorly rated segments</a:t>
            </a:r>
          </a:p>
          <a:p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7085C-4E14-6498-1526-26676B151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6" y="1339208"/>
            <a:ext cx="4425094" cy="32745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141D9B3-321C-6C50-B213-81836173D1FD}"/>
              </a:ext>
            </a:extLst>
          </p:cNvPr>
          <p:cNvSpPr txBox="1"/>
          <p:nvPr/>
        </p:nvSpPr>
        <p:spPr>
          <a:xfrm>
            <a:off x="4489187" y="2210648"/>
            <a:ext cx="44250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dirty="0"/>
              <a:t>3. Distribution of street segments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260CAD-BD51-8703-E64E-2197ADE0A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730" y="3282538"/>
            <a:ext cx="4792009" cy="351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4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Pavement ratings represent inspection snapshots</a:t>
            </a:r>
          </a:p>
          <a:p>
            <a:r>
              <a:rPr dirty="0"/>
              <a:t>Hydrant counts indicate presence, not response capability</a:t>
            </a:r>
          </a:p>
          <a:p>
            <a:r>
              <a:rPr dirty="0"/>
              <a:t>Ward-level aggregation limits neighborhood-level 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Possible extensions:</a:t>
            </a:r>
          </a:p>
          <a:p>
            <a:pPr lvl="1"/>
            <a:r>
              <a:rPr dirty="0"/>
              <a:t>Neighborhood-level spatial analysis</a:t>
            </a:r>
          </a:p>
          <a:p>
            <a:pPr lvl="1"/>
            <a:r>
              <a:rPr dirty="0"/>
              <a:t>Additional infrastructure datasets</a:t>
            </a:r>
          </a:p>
          <a:p>
            <a:pPr lvl="1"/>
            <a:r>
              <a:rPr dirty="0"/>
              <a:t>Public dashboard for city officials and residents</a:t>
            </a:r>
          </a:p>
          <a:p>
            <a:endParaRPr dirty="0"/>
          </a:p>
          <a:p>
            <a:r>
              <a:rPr dirty="0"/>
              <a:t>Open data becomes most valuable when translated into accessible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307</Words>
  <Application>Microsoft Office PowerPoint</Application>
  <PresentationFormat>On-screen Show (4:3)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Streets &amp; Safety: Infrastructure Insights from Syracuse Open Data</vt:lpstr>
      <vt:lpstr>The Problem</vt:lpstr>
      <vt:lpstr>Why Syracuse Should Care</vt:lpstr>
      <vt:lpstr>The Approach</vt:lpstr>
      <vt:lpstr>Analytical Approach</vt:lpstr>
      <vt:lpstr>System Architecture</vt:lpstr>
      <vt:lpstr>Data Quality Assessment</vt:lpstr>
      <vt:lpstr>LLM Integration &amp; Validation</vt:lpstr>
      <vt:lpstr>Key Findings</vt:lpstr>
      <vt:lpstr>Visual Insights</vt:lpstr>
      <vt:lpstr>PowerPoint Presentation</vt:lpstr>
      <vt:lpstr>Limitations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Sagarika Shinde</cp:lastModifiedBy>
  <cp:revision>4</cp:revision>
  <dcterms:created xsi:type="dcterms:W3CDTF">2013-01-27T09:14:16Z</dcterms:created>
  <dcterms:modified xsi:type="dcterms:W3CDTF">2026-03-16T20:09:31Z</dcterms:modified>
  <cp:category/>
</cp:coreProperties>
</file>